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3716000" cy="8572500"/>
  <p:notesSz cx="85725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 core findings from the forensic audit. Each finding builds the case for why a trust layer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question users are asking isn't about rates — it's about trust. RewardTrust is the neutral trust layer that fills the gap the ecosystem hasn't addressed.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gradFill rotWithShape="1">
            <a:gsLst>
              <a:gs pos="0">
                <a:srgbClr val="0EA5E9">
                  <a:alpha val="4000"/>
                </a:srgbClr>
              </a:gs>
              <a:gs pos="100000">
                <a:srgbClr val="0EA5E9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571750" y="-1714500"/>
            <a:ext cx="8572500" cy="3429000"/>
          </a:xfrm>
          <a:prstGeom prst="rect">
            <a:avLst/>
          </a:prstGeom>
          <a:gradFill rotWithShape="1">
            <a:gsLst>
              <a:gs pos="0">
                <a:srgbClr val="0EA5E9">
                  <a:alpha val="12000"/>
                </a:srgbClr>
              </a:gs>
              <a:gs pos="70000">
                <a:srgbClr val="0EA5E9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00" cy="692150"/>
          </a:xfrm>
          <a:prstGeom prst="rect">
            <a:avLst/>
          </a:prstGeom>
          <a:solidFill>
            <a:srgbClr val="0A1020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37160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314325"/>
            <a:ext cx="57150" cy="5715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50800" dir="16200000">
              <a:srgbClr val="0EA5E9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850" y="269875"/>
            <a:ext cx="234685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REWARDTRUST EXISTS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0206236" y="222250"/>
            <a:ext cx="3014464" cy="241300"/>
          </a:xfrm>
          <a:prstGeom prst="roundRect">
            <a:avLst>
              <a:gd name="adj" fmla="val 50000"/>
            </a:avLst>
          </a:prstGeom>
          <a:solidFill>
            <a:srgbClr val="0EA5E9">
              <a:alpha val="8000"/>
            </a:srgbClr>
          </a:solidFill>
          <a:ln w="635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64986" y="276225"/>
            <a:ext cx="27873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Forensic Audit · 5 Products · 25 Combos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95300" y="1111250"/>
            <a:ext cx="139979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RESEARCH FOUND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5300" y="1327150"/>
            <a:ext cx="62788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research audit of Indian UPI reward products — studying whether users can understand, predict, verify, and trust rewards.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495300" y="2051050"/>
            <a:ext cx="6267450" cy="2724150"/>
          </a:xfrm>
          <a:prstGeom prst="roundRect">
            <a:avLst>
              <a:gd name="adj" fmla="val 5594"/>
            </a:avLst>
          </a:prstGeom>
          <a:gradFill rotWithShape="1">
            <a:gsLst>
              <a:gs pos="0">
                <a:srgbClr val="0D1526">
                  <a:alpha val="100000"/>
                </a:srgbClr>
              </a:gs>
              <a:gs pos="100000">
                <a:srgbClr val="0A1020">
                  <a:alpha val="100000"/>
                </a:srgbClr>
              </a:gs>
            </a:gsLst>
            <a:lin ang="2700000" scaled="0"/>
          </a:gradFill>
          <a:ln w="6350">
            <a:solidFill>
              <a:srgbClr val="0EA5E9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650" y="2057400"/>
            <a:ext cx="6254750" cy="19050"/>
          </a:xfrm>
          <a:prstGeom prst="rect">
            <a:avLst/>
          </a:prstGeom>
          <a:gradFill rotWithShape="1">
            <a:gsLst>
              <a:gs pos="0">
                <a:srgbClr val="0EA5E9">
                  <a:alpha val="100000"/>
                </a:srgbClr>
              </a:gs>
              <a:gs pos="100000">
                <a:srgbClr val="0EA5E9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Shape 12"/>
          <p:cNvSpPr/>
          <p:nvPr/>
        </p:nvSpPr>
        <p:spPr>
          <a:xfrm>
            <a:off x="6089650" y="1771650"/>
            <a:ext cx="952500" cy="952500"/>
          </a:xfrm>
          <a:prstGeom prst="ellipse">
            <a:avLst/>
          </a:prstGeom>
          <a:gradFill rotWithShape="1">
            <a:gsLst>
              <a:gs pos="0">
                <a:srgbClr val="0EA5E9">
                  <a:alpha val="10000"/>
                </a:srgbClr>
              </a:gs>
              <a:gs pos="70000">
                <a:srgbClr val="0EA5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5" name="Shape 13"/>
          <p:cNvSpPr/>
          <p:nvPr/>
        </p:nvSpPr>
        <p:spPr>
          <a:xfrm>
            <a:off x="806450" y="23241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EA5E9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9475" y="2397125"/>
            <a:ext cx="158750" cy="158750"/>
          </a:xfrm>
          <a:prstGeom prst="roundRect">
            <a:avLst>
              <a:gd name="adj" fmla="val 18000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1225" y="2428875"/>
            <a:ext cx="95250" cy="14288"/>
          </a:xfrm>
          <a:prstGeom prst="roundRect">
            <a:avLst>
              <a:gd name="adj" fmla="val 49998"/>
            </a:avLst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225" y="2457450"/>
            <a:ext cx="76200" cy="14288"/>
          </a:xfrm>
          <a:prstGeom prst="roundRect">
            <a:avLst>
              <a:gd name="adj" fmla="val 49998"/>
            </a:avLst>
          </a:prstGeom>
          <a:solidFill>
            <a:srgbClr val="0EA5E9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1225" y="2486025"/>
            <a:ext cx="57150" cy="14288"/>
          </a:xfrm>
          <a:prstGeom prst="roundRect">
            <a:avLst>
              <a:gd name="adj" fmla="val 49998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25550" y="2409825"/>
            <a:ext cx="20624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INFORMATION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6450" y="2743200"/>
            <a:ext cx="581450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rules split across apps, help centers, FAQs, T&amp;Cs, and offer pages.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official source answers all questions.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53250" y="2051050"/>
            <a:ext cx="6267450" cy="2724150"/>
          </a:xfrm>
          <a:prstGeom prst="roundRect">
            <a:avLst>
              <a:gd name="adj" fmla="val 5594"/>
            </a:avLst>
          </a:prstGeom>
          <a:gradFill rotWithShape="1">
            <a:gsLst>
              <a:gs pos="0">
                <a:srgbClr val="0D1526">
                  <a:alpha val="100000"/>
                </a:srgbClr>
              </a:gs>
              <a:gs pos="100000">
                <a:srgbClr val="0A1020">
                  <a:alpha val="100000"/>
                </a:srgbClr>
              </a:gs>
            </a:gsLst>
            <a:lin ang="2700000" scaled="0"/>
          </a:gradFill>
          <a:ln w="635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59600" y="2057400"/>
            <a:ext cx="6254750" cy="19050"/>
          </a:xfrm>
          <a:prstGeom prst="rect">
            <a:avLst/>
          </a:prstGeom>
          <a:gradFill rotWithShape="1">
            <a:gsLst>
              <a:gs pos="0">
                <a:srgbClr val="F59E0B">
                  <a:alpha val="100000"/>
                </a:srgbClr>
              </a:gs>
              <a:gs pos="100000">
                <a:srgbClr val="F59E0B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12547600" y="1771650"/>
            <a:ext cx="952500" cy="952500"/>
          </a:xfrm>
          <a:prstGeom prst="ellipse">
            <a:avLst/>
          </a:prstGeom>
          <a:gradFill rotWithShape="1">
            <a:gsLst>
              <a:gs pos="0">
                <a:srgbClr val="F59E0B">
                  <a:alpha val="8000"/>
                </a:srgbClr>
              </a:gs>
              <a:gs pos="7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5" name="Shape 23"/>
          <p:cNvSpPr/>
          <p:nvPr/>
        </p:nvSpPr>
        <p:spPr>
          <a:xfrm>
            <a:off x="7264400" y="23241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88113" y="2405063"/>
            <a:ext cx="3334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7683500" y="2409825"/>
            <a:ext cx="157948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UNVERIFIABLE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64400" y="2743200"/>
            <a:ext cx="581450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of 25 official sources could not confirm exact reward rates.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HIGH = 0 findings.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= majority.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300" y="4965700"/>
            <a:ext cx="6267450" cy="2724150"/>
          </a:xfrm>
          <a:prstGeom prst="roundRect">
            <a:avLst>
              <a:gd name="adj" fmla="val 5594"/>
            </a:avLst>
          </a:prstGeom>
          <a:gradFill rotWithShape="1">
            <a:gsLst>
              <a:gs pos="0">
                <a:srgbClr val="0D1526">
                  <a:alpha val="100000"/>
                </a:srgbClr>
              </a:gs>
              <a:gs pos="100000">
                <a:srgbClr val="0A1020">
                  <a:alpha val="100000"/>
                </a:srgbClr>
              </a:gs>
            </a:gsLst>
            <a:lin ang="2700000" scaled="0"/>
          </a:gradFill>
          <a:ln w="6350">
            <a:solidFill>
              <a:srgbClr val="EF4444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650" y="4972050"/>
            <a:ext cx="6254750" cy="19050"/>
          </a:xfrm>
          <a:prstGeom prst="rect">
            <a:avLst/>
          </a:prstGeom>
          <a:gradFill rotWithShape="1">
            <a:gsLst>
              <a:gs pos="0">
                <a:srgbClr val="EF4444">
                  <a:alpha val="100000"/>
                </a:srgbClr>
              </a:gs>
              <a:gs pos="100000">
                <a:srgbClr val="EF4444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6089650" y="4686300"/>
            <a:ext cx="952500" cy="952500"/>
          </a:xfrm>
          <a:prstGeom prst="ellipse">
            <a:avLst/>
          </a:prstGeom>
          <a:gradFill rotWithShape="1">
            <a:gsLst>
              <a:gs pos="0">
                <a:srgbClr val="EF4444">
                  <a:alpha val="8000"/>
                </a:srgbClr>
              </a:gs>
              <a:gs pos="70000">
                <a:srgbClr val="EF444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2" name="Shape 30"/>
          <p:cNvSpPr/>
          <p:nvPr/>
        </p:nvSpPr>
        <p:spPr>
          <a:xfrm>
            <a:off x="806450" y="52387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F4444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82650" y="5314950"/>
            <a:ext cx="152400" cy="152400"/>
          </a:xfrm>
          <a:prstGeom prst="ellipse">
            <a:avLst/>
          </a:prstGeom>
          <a:ln w="1905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706" y="5368290"/>
            <a:ext cx="14288" cy="38100"/>
          </a:xfrm>
          <a:prstGeom prst="roundRect">
            <a:avLst>
              <a:gd name="adj" fmla="val 49998"/>
            </a:avLst>
          </a:prstGeom>
          <a:solidFill>
            <a:srgbClr val="EF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949325" y="5419725"/>
            <a:ext cx="19050" cy="190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1225550" y="5324475"/>
            <a:ext cx="2318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BEFORE &amp; AFTER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6450" y="5657850"/>
            <a:ext cx="581450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I earn?" "Am I eligible?"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didn't I earn?" "When will it credit?"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answered.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53250" y="4965700"/>
            <a:ext cx="6267450" cy="2724150"/>
          </a:xfrm>
          <a:prstGeom prst="roundRect">
            <a:avLst>
              <a:gd name="adj" fmla="val 5594"/>
            </a:avLst>
          </a:prstGeom>
          <a:gradFill rotWithShape="1">
            <a:gsLst>
              <a:gs pos="0">
                <a:srgbClr val="0D1526">
                  <a:alpha val="100000"/>
                </a:srgbClr>
              </a:gs>
              <a:gs pos="100000">
                <a:srgbClr val="0A1020">
                  <a:alpha val="100000"/>
                </a:srgbClr>
              </a:gs>
            </a:gsLst>
            <a:lin ang="2700000" scaled="0"/>
          </a:gradFill>
          <a:ln w="6350">
            <a:solidFill>
              <a:srgbClr val="94A3B8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9600" y="4972050"/>
            <a:ext cx="6254750" cy="19050"/>
          </a:xfrm>
          <a:prstGeom prst="rect">
            <a:avLst/>
          </a:prstGeom>
          <a:gradFill rotWithShape="1">
            <a:gsLst>
              <a:gs pos="0">
                <a:srgbClr val="94A3B8">
                  <a:alpha val="50000"/>
                </a:srgbClr>
              </a:gs>
              <a:gs pos="100000">
                <a:srgbClr val="94A3B8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0" name="Shape 38"/>
          <p:cNvSpPr/>
          <p:nvPr/>
        </p:nvSpPr>
        <p:spPr>
          <a:xfrm>
            <a:off x="12547600" y="4686300"/>
            <a:ext cx="952500" cy="952500"/>
          </a:xfrm>
          <a:prstGeom prst="ellipse">
            <a:avLst/>
          </a:prstGeom>
          <a:gradFill rotWithShape="1">
            <a:gsLst>
              <a:gs pos="0">
                <a:srgbClr val="94A3B8">
                  <a:alpha val="6000"/>
                </a:srgbClr>
              </a:gs>
              <a:gs pos="70000">
                <a:srgbClr val="94A3B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1" name="Shape 39"/>
          <p:cNvSpPr/>
          <p:nvPr/>
        </p:nvSpPr>
        <p:spPr>
          <a:xfrm>
            <a:off x="7264400" y="52387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4A3B8">
              <a:alpha val="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50125" y="5343525"/>
            <a:ext cx="28575" cy="95250"/>
          </a:xfrm>
          <a:prstGeom prst="roundRect">
            <a:avLst>
              <a:gd name="adj" fmla="val 33333"/>
            </a:avLst>
          </a:prstGeom>
          <a:solidFill>
            <a:srgbClr val="94A3B8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388225" y="5372100"/>
            <a:ext cx="28575" cy="66675"/>
          </a:xfrm>
          <a:prstGeom prst="roundRect">
            <a:avLst>
              <a:gd name="adj" fmla="val 33333"/>
            </a:avLst>
          </a:prstGeom>
          <a:solidFill>
            <a:srgbClr val="94A3B8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26325" y="5391150"/>
            <a:ext cx="28575" cy="47625"/>
          </a:xfrm>
          <a:prstGeom prst="roundRect">
            <a:avLst>
              <a:gd name="adj" fmla="val 33333"/>
            </a:avLst>
          </a:prstGeom>
          <a:solidFill>
            <a:srgbClr val="94A3B8">
              <a:alpha val="8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464425" y="5410200"/>
            <a:ext cx="28575" cy="28575"/>
          </a:xfrm>
          <a:prstGeom prst="roundRect">
            <a:avLst>
              <a:gd name="adj" fmla="val 33333"/>
            </a:avLst>
          </a:prstGeom>
          <a:solidFill>
            <a:srgbClr val="94A3B8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683500" y="5324475"/>
            <a:ext cx="27129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OVER TRANSPARENCY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64400" y="5657850"/>
            <a:ext cx="581450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optimize for reward promotion, not verification.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Exclusions buried. Conditions implicit.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8070850"/>
            <a:ext cx="13716000" cy="501650"/>
          </a:xfrm>
          <a:prstGeom prst="rect">
            <a:avLst/>
          </a:prstGeom>
          <a:solidFill>
            <a:srgbClr val="060A12">
              <a:alpha val="9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8070850"/>
            <a:ext cx="13716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95300" y="8296275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1" name="Text 49"/>
          <p:cNvSpPr/>
          <p:nvPr/>
        </p:nvSpPr>
        <p:spPr>
          <a:xfrm>
            <a:off x="628650" y="8258175"/>
            <a:ext cx="12077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Products Audited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2141240" y="8296275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2274590" y="8258175"/>
            <a:ext cx="14522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Product–App Combos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3975795" y="8296275"/>
            <a:ext cx="57150" cy="571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4109145" y="8258175"/>
            <a:ext cx="15214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 Rates Unverifiable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5873254" y="8296275"/>
            <a:ext cx="57150" cy="571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7" name="Text 55"/>
          <p:cNvSpPr/>
          <p:nvPr/>
        </p:nvSpPr>
        <p:spPr>
          <a:xfrm>
            <a:off x="6006604" y="8258175"/>
            <a:ext cx="12077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Trust Dimensions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2780566" y="8258175"/>
            <a:ext cx="51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02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gradFill rotWithShape="1">
            <a:gsLst>
              <a:gs pos="0">
                <a:srgbClr val="E8B84B">
                  <a:alpha val="3000"/>
                </a:srgbClr>
              </a:gs>
              <a:gs pos="100000">
                <a:srgbClr val="E8B84B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096000" y="-1905000"/>
            <a:ext cx="6667500" cy="3810000"/>
          </a:xfrm>
          <a:prstGeom prst="rect">
            <a:avLst/>
          </a:prstGeom>
          <a:gradFill rotWithShape="1">
            <a:gsLst>
              <a:gs pos="0">
                <a:srgbClr val="E8B84B">
                  <a:alpha val="10000"/>
                </a:srgbClr>
              </a:gs>
              <a:gs pos="65000">
                <a:srgbClr val="E8B84B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00" cy="692150"/>
          </a:xfrm>
          <a:prstGeom prst="rect">
            <a:avLst/>
          </a:prstGeom>
          <a:solidFill>
            <a:srgbClr val="0A1020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5800"/>
            <a:ext cx="137160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314325"/>
            <a:ext cx="57150" cy="57150"/>
          </a:xfrm>
          <a:prstGeom prst="ellipse">
            <a:avLst/>
          </a:prstGeom>
          <a:solidFill>
            <a:srgbClr val="E8B84B"/>
          </a:solidFill>
          <a:ln/>
          <a:effectLst>
            <a:outerShdw sx="100000" sy="100000" kx="0" ky="0" algn="bl" rotWithShape="0" blurRad="76200" dist="50800" dir="16200000">
              <a:srgbClr val="E8B84B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850" y="269875"/>
            <a:ext cx="234685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REWARDTRUST EXISTS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0482858" y="222250"/>
            <a:ext cx="2737842" cy="241300"/>
          </a:xfrm>
          <a:prstGeom prst="roundRect">
            <a:avLst>
              <a:gd name="adj" fmla="val 50000"/>
            </a:avLst>
          </a:prstGeom>
          <a:solidFill>
            <a:srgbClr val="E8B84B">
              <a:alpha val="7000"/>
            </a:srgbClr>
          </a:solidFill>
          <a:ln w="6350">
            <a:solidFill>
              <a:srgbClr val="E8B84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41608" y="276225"/>
            <a:ext cx="25024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Layer for Payment Rewards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6851650" y="692150"/>
            <a:ext cx="9525" cy="73787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5300" y="1149350"/>
            <a:ext cx="644715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495300" y="1536700"/>
            <a:ext cx="5861050" cy="817166"/>
          </a:xfrm>
          <a:prstGeom prst="roundRect">
            <a:avLst>
              <a:gd name="adj" fmla="val 13987"/>
            </a:avLst>
          </a:prstGeom>
          <a:solidFill>
            <a:srgbClr val="081525">
              <a:alpha val="80000"/>
            </a:srgbClr>
          </a:solidFill>
          <a:ln w="6350">
            <a:solidFill>
              <a:srgbClr val="1E3A5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250" y="1733550"/>
            <a:ext cx="593026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aren't asking: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30250" y="1930400"/>
            <a:ext cx="5930265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reward is highest?"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3418681" y="2506266"/>
            <a:ext cx="14288" cy="228600"/>
          </a:xfrm>
          <a:prstGeom prst="rect">
            <a:avLst/>
          </a:prstGeom>
          <a:gradFill rotWithShape="1">
            <a:gsLst>
              <a:gs pos="0">
                <a:srgbClr val="E8B84B">
                  <a:alpha val="20000"/>
                </a:srgbClr>
              </a:gs>
              <a:gs pos="100000">
                <a:srgbClr val="E8B84B">
                  <a:alpha val="80000"/>
                </a:srgbClr>
              </a:gs>
            </a:gsLst>
            <a:lin ang="540000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3381375" y="2772966"/>
            <a:ext cx="88900" cy="635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300" y="2988866"/>
            <a:ext cx="5861050" cy="994073"/>
          </a:xfrm>
          <a:prstGeom prst="roundRect">
            <a:avLst>
              <a:gd name="adj" fmla="val 13415"/>
            </a:avLst>
          </a:prstGeom>
          <a:gradFill rotWithShape="1">
            <a:gsLst>
              <a:gs pos="0">
                <a:srgbClr val="0C1E35">
                  <a:alpha val="90000"/>
                </a:srgbClr>
              </a:gs>
              <a:gs pos="100000">
                <a:srgbClr val="081225">
                  <a:alpha val="90000"/>
                </a:srgbClr>
              </a:gs>
            </a:gsLst>
            <a:lin ang="2700000" scaled="0"/>
          </a:gradFill>
          <a:ln w="19050">
            <a:solidFill>
              <a:srgbClr val="E8B84B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E8B84B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1050" y="3236516"/>
            <a:ext cx="581850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asking: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81050" y="3452416"/>
            <a:ext cx="581850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I trust that this reward will actually work?"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95300" y="7105650"/>
            <a:ext cx="5861050" cy="9525"/>
          </a:xfrm>
          <a:prstGeom prst="rect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5300" y="7302500"/>
            <a:ext cx="64471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 is built for reward distribution.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300" y="7512050"/>
            <a:ext cx="64471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" kern="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reward transparency.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53300" y="1149350"/>
            <a:ext cx="64541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353300" y="1403350"/>
            <a:ext cx="64541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7353300" y="1879600"/>
            <a:ext cx="64541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 for Payment Rewards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53300" y="2298700"/>
            <a:ext cx="5867400" cy="9525"/>
          </a:xfrm>
          <a:prstGeom prst="rect">
            <a:avLst/>
          </a:prstGeom>
          <a:gradFill rotWithShape="1">
            <a:gsLst>
              <a:gs pos="0">
                <a:srgbClr val="1E3A5F">
                  <a:alpha val="80000"/>
                </a:srgbClr>
              </a:gs>
              <a:gs pos="100000">
                <a:srgbClr val="1E3A5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7353300" y="2574925"/>
            <a:ext cx="64541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neutral system that: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7353300" y="3027363"/>
            <a:ext cx="5867400" cy="558800"/>
          </a:xfrm>
          <a:prstGeom prst="roundRect">
            <a:avLst>
              <a:gd name="adj" fmla="val 17045"/>
            </a:avLst>
          </a:prstGeom>
          <a:solidFill>
            <a:srgbClr val="0A1525">
              <a:alpha val="70000"/>
            </a:srgbClr>
          </a:solidFill>
          <a:ln w="6350">
            <a:solidFill>
              <a:srgbClr val="15253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31100" y="3167063"/>
            <a:ext cx="279400" cy="279400"/>
          </a:xfrm>
          <a:prstGeom prst="roundRect">
            <a:avLst>
              <a:gd name="adj" fmla="val 23864"/>
            </a:avLst>
          </a:prstGeom>
          <a:solidFill>
            <a:srgbClr val="0EA5E9">
              <a:alpha val="12000"/>
            </a:srgbClr>
          </a:solidFill>
          <a:ln w="635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4125" y="3240088"/>
            <a:ext cx="133350" cy="133350"/>
          </a:xfrm>
          <a:prstGeom prst="ellipse">
            <a:avLst/>
          </a:prstGeom>
          <a:ln w="1905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3850" y="3216771"/>
            <a:ext cx="2879021" cy="2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reward rates against official sources</a:t>
            </a:r>
            <a:endParaRPr lang="en-US" sz="1013" dirty="0"/>
          </a:p>
        </p:txBody>
      </p:sp>
      <p:sp>
        <p:nvSpPr>
          <p:cNvPr id="32" name="Shape 30"/>
          <p:cNvSpPr/>
          <p:nvPr/>
        </p:nvSpPr>
        <p:spPr>
          <a:xfrm>
            <a:off x="7353300" y="3700463"/>
            <a:ext cx="5867400" cy="558800"/>
          </a:xfrm>
          <a:prstGeom prst="roundRect">
            <a:avLst>
              <a:gd name="adj" fmla="val 17045"/>
            </a:avLst>
          </a:prstGeom>
          <a:solidFill>
            <a:srgbClr val="0A1525">
              <a:alpha val="70000"/>
            </a:srgbClr>
          </a:solidFill>
          <a:ln w="6350">
            <a:solidFill>
              <a:srgbClr val="15253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31100" y="3840163"/>
            <a:ext cx="279400" cy="279400"/>
          </a:xfrm>
          <a:prstGeom prst="roundRect">
            <a:avLst>
              <a:gd name="adj" fmla="val 23864"/>
            </a:avLst>
          </a:prstGeom>
          <a:solidFill>
            <a:srgbClr val="E8B84B">
              <a:alpha val="10000"/>
            </a:srgbClr>
          </a:solidFill>
          <a:ln w="6350">
            <a:solidFill>
              <a:srgbClr val="E8B84B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4125" y="3913188"/>
            <a:ext cx="133350" cy="133350"/>
          </a:xfrm>
          <a:prstGeom prst="roundRect">
            <a:avLst>
              <a:gd name="adj" fmla="val 14286"/>
            </a:avLst>
          </a:prstGeom>
          <a:ln w="19050">
            <a:solidFill>
              <a:srgbClr val="E8B8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3850" y="3889871"/>
            <a:ext cx="2796183" cy="2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exclusions and hidden conditions</a:t>
            </a:r>
            <a:endParaRPr lang="en-US" sz="1013" dirty="0"/>
          </a:p>
        </p:txBody>
      </p:sp>
      <p:sp>
        <p:nvSpPr>
          <p:cNvPr id="36" name="Shape 34"/>
          <p:cNvSpPr/>
          <p:nvPr/>
        </p:nvSpPr>
        <p:spPr>
          <a:xfrm>
            <a:off x="7353300" y="4373563"/>
            <a:ext cx="5867400" cy="558800"/>
          </a:xfrm>
          <a:prstGeom prst="roundRect">
            <a:avLst>
              <a:gd name="adj" fmla="val 17045"/>
            </a:avLst>
          </a:prstGeom>
          <a:solidFill>
            <a:srgbClr val="0A1525">
              <a:alpha val="70000"/>
            </a:srgbClr>
          </a:solidFill>
          <a:ln w="6350">
            <a:solidFill>
              <a:srgbClr val="152535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1100" y="4513263"/>
            <a:ext cx="279400" cy="279400"/>
          </a:xfrm>
          <a:prstGeom prst="roundRect">
            <a:avLst>
              <a:gd name="adj" fmla="val 23864"/>
            </a:avLst>
          </a:prstGeom>
          <a:solidFill>
            <a:srgbClr val="F59E0B">
              <a:alpha val="10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04125" y="4605338"/>
            <a:ext cx="133350" cy="95250"/>
          </a:xfrm>
          <a:prstGeom prst="roundRect">
            <a:avLst>
              <a:gd name="adj" fmla="val 20000"/>
            </a:avLst>
          </a:prstGeom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43813" y="4586288"/>
            <a:ext cx="53975" cy="53975"/>
          </a:xfrm>
          <a:prstGeom prst="ellipse">
            <a:avLst/>
          </a:prstGeom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43850" y="4562971"/>
            <a:ext cx="2724587" cy="2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confidence and 'last verified' dates</a:t>
            </a:r>
            <a:endParaRPr lang="en-US" sz="1013" dirty="0"/>
          </a:p>
        </p:txBody>
      </p:sp>
      <p:sp>
        <p:nvSpPr>
          <p:cNvPr id="41" name="Shape 39"/>
          <p:cNvSpPr/>
          <p:nvPr/>
        </p:nvSpPr>
        <p:spPr>
          <a:xfrm>
            <a:off x="7353300" y="5046663"/>
            <a:ext cx="5867400" cy="558800"/>
          </a:xfrm>
          <a:prstGeom prst="roundRect">
            <a:avLst>
              <a:gd name="adj" fmla="val 17045"/>
            </a:avLst>
          </a:prstGeom>
          <a:solidFill>
            <a:srgbClr val="0A1525">
              <a:alpha val="70000"/>
            </a:srgbClr>
          </a:solidFill>
          <a:ln w="6350">
            <a:solidFill>
              <a:srgbClr val="152535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31100" y="5186363"/>
            <a:ext cx="279400" cy="279400"/>
          </a:xfrm>
          <a:prstGeom prst="roundRect">
            <a:avLst>
              <a:gd name="adj" fmla="val 23864"/>
            </a:avLst>
          </a:prstGeom>
          <a:solidFill>
            <a:srgbClr val="94A3B8">
              <a:alpha val="8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23175" y="5294313"/>
            <a:ext cx="63500" cy="63500"/>
          </a:xfrm>
          <a:prstGeom prst="ellipse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54925" y="5294313"/>
            <a:ext cx="63500" cy="63500"/>
          </a:xfrm>
          <a:prstGeom prst="ellipse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46988" y="5318919"/>
            <a:ext cx="47625" cy="14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6" name="Text 44"/>
          <p:cNvSpPr/>
          <p:nvPr/>
        </p:nvSpPr>
        <p:spPr>
          <a:xfrm>
            <a:off x="7943850" y="5236071"/>
            <a:ext cx="3474819" cy="2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pre-payment AND post-payment questions</a:t>
            </a:r>
            <a:endParaRPr lang="en-US" sz="1013" dirty="0"/>
          </a:p>
        </p:txBody>
      </p:sp>
      <p:sp>
        <p:nvSpPr>
          <p:cNvPr id="47" name="Shape 45"/>
          <p:cNvSpPr/>
          <p:nvPr/>
        </p:nvSpPr>
        <p:spPr>
          <a:xfrm>
            <a:off x="7353300" y="6858000"/>
            <a:ext cx="1879600" cy="831850"/>
          </a:xfrm>
          <a:prstGeom prst="roundRect">
            <a:avLst>
              <a:gd name="adj" fmla="val 11450"/>
            </a:avLst>
          </a:prstGeom>
          <a:solidFill>
            <a:srgbClr val="081225">
              <a:alpha val="90000"/>
            </a:srgbClr>
          </a:solidFill>
          <a:ln w="6350">
            <a:solidFill>
              <a:srgbClr val="152E46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2990" y="6997700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/25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7454900" y="7283450"/>
            <a:ext cx="1676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 official sources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9347200" y="6858000"/>
            <a:ext cx="1879600" cy="831850"/>
          </a:xfrm>
          <a:prstGeom prst="roundRect">
            <a:avLst>
              <a:gd name="adj" fmla="val 11450"/>
            </a:avLst>
          </a:prstGeom>
          <a:solidFill>
            <a:srgbClr val="081225">
              <a:alpha val="90000"/>
            </a:srgbClr>
          </a:solidFill>
          <a:ln w="6350">
            <a:solidFill>
              <a:srgbClr val="152E46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06890" y="6997700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/25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448800" y="7283450"/>
            <a:ext cx="1676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NOT verifiable officially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1341101" y="6858000"/>
            <a:ext cx="1879600" cy="831850"/>
          </a:xfrm>
          <a:prstGeom prst="roundRect">
            <a:avLst>
              <a:gd name="adj" fmla="val 11450"/>
            </a:avLst>
          </a:prstGeom>
          <a:solidFill>
            <a:srgbClr val="081225">
              <a:alpha val="90000"/>
            </a:srgbClr>
          </a:solidFill>
          <a:ln w="6350">
            <a:solidFill>
              <a:srgbClr val="152E46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00790" y="6997700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/5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1442700" y="7283450"/>
            <a:ext cx="1676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missing last-updated date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0" y="8070850"/>
            <a:ext cx="13716000" cy="501650"/>
          </a:xfrm>
          <a:prstGeom prst="rect">
            <a:avLst/>
          </a:prstGeom>
          <a:solidFill>
            <a:srgbClr val="060A12">
              <a:alpha val="9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0" y="8070850"/>
            <a:ext cx="13716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95300" y="8296275"/>
            <a:ext cx="57150" cy="5715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9" name="Text 57"/>
          <p:cNvSpPr/>
          <p:nvPr/>
        </p:nvSpPr>
        <p:spPr>
          <a:xfrm>
            <a:off x="628650" y="8258175"/>
            <a:ext cx="338848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RewardTrust · The Trust Layer for Payment Rewards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2780566" y="8258175"/>
            <a:ext cx="51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02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2026-06-20T12:48:52Z</dcterms:created>
  <dcterms:modified xsi:type="dcterms:W3CDTF">2026-06-20T12:48:52Z</dcterms:modified>
</cp:coreProperties>
</file>