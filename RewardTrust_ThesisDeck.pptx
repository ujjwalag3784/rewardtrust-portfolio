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53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54000" y="-1143000"/>
            <a:ext cx="6096000" cy="6096000"/>
          </a:xfrm>
          <a:prstGeom prst="ellipse">
            <a:avLst/>
          </a:prstGeom>
          <a:gradFill rotWithShape="1">
            <a:gsLst>
              <a:gs pos="0">
                <a:srgbClr val="F5B731">
                  <a:alpha val="7000"/>
                </a:srgbClr>
              </a:gs>
              <a:gs pos="65000">
                <a:srgbClr val="F5B7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9906000" y="6858000"/>
            <a:ext cx="4953000" cy="4953000"/>
          </a:xfrm>
          <a:prstGeom prst="ellipse">
            <a:avLst/>
          </a:prstGeom>
          <a:gradFill rotWithShape="1">
            <a:gsLst>
              <a:gs pos="0">
                <a:srgbClr val="29B5E8">
                  <a:alpha val="5000"/>
                </a:srgbClr>
              </a:gs>
              <a:gs pos="65000">
                <a:srgbClr val="29B5E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990600" y="654050"/>
            <a:ext cx="3185924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204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PORTFOLIO CASE STUDY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6565861" y="647700"/>
            <a:ext cx="8077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 v1.0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636341"/>
            <a:ext cx="609600" cy="609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09750" y="2674441"/>
            <a:ext cx="19050" cy="533400"/>
          </a:xfrm>
          <a:prstGeom prst="rect">
            <a:avLst/>
          </a:prstGeom>
          <a:solidFill>
            <a:srgbClr val="F5B731">
              <a:alpha val="4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038350" y="2704604"/>
            <a:ext cx="33535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 for Payment Rewards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38350" y="2980829"/>
            <a:ext cx="335356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 ·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90600" y="3665041"/>
            <a:ext cx="13243560" cy="933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8100" b="1" kern="0" spc="-243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</a:t>
            </a:r>
            <a:endParaRPr lang="en-US" sz="8100" dirty="0"/>
          </a:p>
        </p:txBody>
      </p:sp>
      <p:sp>
        <p:nvSpPr>
          <p:cNvPr id="11" name="Text 8"/>
          <p:cNvSpPr/>
          <p:nvPr/>
        </p:nvSpPr>
        <p:spPr>
          <a:xfrm>
            <a:off x="990600" y="4559995"/>
            <a:ext cx="13243560" cy="933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8100" b="1" kern="0" spc="-243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endParaRPr lang="en-US" sz="8100" dirty="0"/>
          </a:p>
        </p:txBody>
      </p:sp>
      <p:sp>
        <p:nvSpPr>
          <p:cNvPr id="12" name="Shape 9"/>
          <p:cNvSpPr/>
          <p:nvPr/>
        </p:nvSpPr>
        <p:spPr>
          <a:xfrm>
            <a:off x="990600" y="5835948"/>
            <a:ext cx="25400" cy="1173361"/>
          </a:xfrm>
          <a:prstGeom prst="rect">
            <a:avLst/>
          </a:prstGeom>
          <a:solidFill>
            <a:srgbClr val="F5B731">
              <a:alpha val="3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244600" y="5835948"/>
            <a:ext cx="7063740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neutral, evidence-backed information layer for Indian UPI rewards.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44600" y="6643589"/>
            <a:ext cx="754380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Tells you what you'll earn before you pay — and why after.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90600" y="7428409"/>
            <a:ext cx="879475" cy="361950"/>
          </a:xfrm>
          <a:prstGeom prst="roundRect">
            <a:avLst>
              <a:gd name="adj" fmla="val 13158"/>
            </a:avLst>
          </a:prstGeom>
          <a:solidFill>
            <a:srgbClr val="F5B731">
              <a:alpha val="10000"/>
            </a:srgbClr>
          </a:solidFill>
          <a:ln w="12700">
            <a:solidFill>
              <a:srgbClr val="F5B731">
                <a:alpha val="3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93800" y="7517309"/>
            <a:ext cx="5492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89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75" dirty="0"/>
          </a:p>
        </p:txBody>
      </p:sp>
      <p:sp>
        <p:nvSpPr>
          <p:cNvPr id="17" name="Shape 14"/>
          <p:cNvSpPr/>
          <p:nvPr/>
        </p:nvSpPr>
        <p:spPr>
          <a:xfrm>
            <a:off x="1984375" y="7428409"/>
            <a:ext cx="1016893" cy="361950"/>
          </a:xfrm>
          <a:prstGeom prst="roundRect">
            <a:avLst>
              <a:gd name="adj" fmla="val 13158"/>
            </a:avLst>
          </a:prstGeom>
          <a:solidFill>
            <a:srgbClr val="F5B731">
              <a:alpha val="10000"/>
            </a:srgbClr>
          </a:solidFill>
          <a:ln w="12700">
            <a:solidFill>
              <a:srgbClr val="F5B731">
                <a:alpha val="3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187575" y="7517309"/>
            <a:ext cx="68669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89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3115568" y="7428409"/>
            <a:ext cx="1043880" cy="361950"/>
          </a:xfrm>
          <a:prstGeom prst="roundRect">
            <a:avLst>
              <a:gd name="adj" fmla="val 13158"/>
            </a:avLst>
          </a:prstGeom>
          <a:solidFill>
            <a:srgbClr val="F5B731">
              <a:alpha val="10000"/>
            </a:srgbClr>
          </a:solidFill>
          <a:ln w="12700">
            <a:solidFill>
              <a:srgbClr val="F5B731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18768" y="7517309"/>
            <a:ext cx="713681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89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275" dirty="0"/>
          </a:p>
        </p:txBody>
      </p:sp>
      <p:sp>
        <p:nvSpPr>
          <p:cNvPr id="21" name="Shape 18"/>
          <p:cNvSpPr/>
          <p:nvPr/>
        </p:nvSpPr>
        <p:spPr>
          <a:xfrm>
            <a:off x="4273748" y="7428409"/>
            <a:ext cx="861913" cy="361950"/>
          </a:xfrm>
          <a:prstGeom prst="roundRect">
            <a:avLst>
              <a:gd name="adj" fmla="val 13158"/>
            </a:avLst>
          </a:prstGeom>
          <a:solidFill>
            <a:srgbClr val="F5B731">
              <a:alpha val="10000"/>
            </a:srgbClr>
          </a:solidFill>
          <a:ln w="12700">
            <a:solidFill>
              <a:srgbClr val="F5B731">
                <a:alpha val="3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76948" y="7517309"/>
            <a:ext cx="53171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75" b="1" kern="0" spc="89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275" dirty="0"/>
          </a:p>
        </p:txBody>
      </p:sp>
      <p:sp>
        <p:nvSpPr>
          <p:cNvPr id="23" name="Shape 20"/>
          <p:cNvSpPr/>
          <p:nvPr/>
        </p:nvSpPr>
        <p:spPr>
          <a:xfrm>
            <a:off x="13868400" y="3603625"/>
            <a:ext cx="3429000" cy="971550"/>
          </a:xfrm>
          <a:prstGeom prst="roundRect">
            <a:avLst>
              <a:gd name="adj" fmla="val 9804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141451" y="3838575"/>
            <a:ext cx="31711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27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14141451" y="4060825"/>
            <a:ext cx="31711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Audit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3868400" y="4727575"/>
            <a:ext cx="3429000" cy="971550"/>
          </a:xfrm>
          <a:prstGeom prst="roundRect">
            <a:avLst>
              <a:gd name="adj" fmla="val 9804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4141451" y="4962525"/>
            <a:ext cx="31711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27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975" dirty="0"/>
          </a:p>
        </p:txBody>
      </p:sp>
      <p:sp>
        <p:nvSpPr>
          <p:cNvPr id="28" name="Text 25"/>
          <p:cNvSpPr/>
          <p:nvPr/>
        </p:nvSpPr>
        <p:spPr>
          <a:xfrm>
            <a:off x="14141451" y="5184775"/>
            <a:ext cx="31711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Sources Only</a:t>
            </a:r>
            <a:endParaRPr lang="en-US" sz="1950" dirty="0"/>
          </a:p>
        </p:txBody>
      </p:sp>
      <p:sp>
        <p:nvSpPr>
          <p:cNvPr id="29" name="Shape 26"/>
          <p:cNvSpPr/>
          <p:nvPr/>
        </p:nvSpPr>
        <p:spPr>
          <a:xfrm>
            <a:off x="13868400" y="5851525"/>
            <a:ext cx="3429000" cy="971550"/>
          </a:xfrm>
          <a:prstGeom prst="roundRect">
            <a:avLst>
              <a:gd name="adj" fmla="val 9804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4141451" y="6086475"/>
            <a:ext cx="31711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127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14141451" y="6308725"/>
            <a:ext cx="317119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Products Audited</a:t>
            </a:r>
            <a:endParaRPr lang="en-US" sz="1950" dirty="0"/>
          </a:p>
        </p:txBody>
      </p:sp>
      <p:sp>
        <p:nvSpPr>
          <p:cNvPr id="32" name="Shape 29"/>
          <p:cNvSpPr/>
          <p:nvPr/>
        </p:nvSpPr>
        <p:spPr>
          <a:xfrm>
            <a:off x="990600" y="9353550"/>
            <a:ext cx="16306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990600" y="9531350"/>
            <a:ext cx="287029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2026 · PM Portfolio · Confidential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16868775" y="9531350"/>
            <a:ext cx="50482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8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81025"/>
            <a:ext cx="12668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295525" y="5715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57250"/>
            <a:ext cx="18021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kern="0" spc="-116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Exist. Trust Doesn't.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952500" y="1600200"/>
            <a:ext cx="9418320" cy="6875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are not failing to earn rewards. They are failing to experience them. The gap is not reward value — it is reward visibility and explanation.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52500" y="2592586"/>
            <a:ext cx="3924300" cy="6784777"/>
          </a:xfrm>
          <a:prstGeom prst="roundRect">
            <a:avLst>
              <a:gd name="adj" fmla="val 242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550" y="2903736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320800" y="2941836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678980" y="2932311"/>
            <a:ext cx="181751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ANTICIPATION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25550" y="3329186"/>
            <a:ext cx="371602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I get a reward?"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25550" y="3866356"/>
            <a:ext cx="3479546" cy="5237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have zero reward information at the decision moment. The choice of which app to use is made with no forward visibility.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5105400" y="2592586"/>
            <a:ext cx="3924300" cy="6784777"/>
          </a:xfrm>
          <a:prstGeom prst="roundRect">
            <a:avLst>
              <a:gd name="adj" fmla="val 242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78450" y="2903736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73700" y="2941836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831880" y="2932311"/>
            <a:ext cx="142494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78450" y="3329186"/>
            <a:ext cx="371602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it credit?"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78450" y="3866356"/>
            <a:ext cx="3479546" cy="4244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reward generated. User wallet: unchanged. The moment of fulfillment — highest trust-building opportunity — is silent.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258300" y="2592586"/>
            <a:ext cx="3924300" cy="6784777"/>
          </a:xfrm>
          <a:prstGeom prst="roundRect">
            <a:avLst>
              <a:gd name="adj" fmla="val 242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1350" y="2903736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626600" y="2941836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984780" y="2932311"/>
            <a:ext cx="117137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GAP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31350" y="3329186"/>
            <a:ext cx="371602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it processing?"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31350" y="3866356"/>
            <a:ext cx="3479546" cy="4244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average: 2–10 day reward delay. Zero status signal. Silence is interpreted as failure. Every day of delay erodes trust.</a:t>
            </a:r>
            <a:endParaRPr lang="en-US" sz="1575" dirty="0"/>
          </a:p>
        </p:txBody>
      </p:sp>
      <p:sp>
        <p:nvSpPr>
          <p:cNvPr id="30" name="Shape 28"/>
          <p:cNvSpPr/>
          <p:nvPr/>
        </p:nvSpPr>
        <p:spPr>
          <a:xfrm>
            <a:off x="13411200" y="2592586"/>
            <a:ext cx="3924300" cy="6784777"/>
          </a:xfrm>
          <a:prstGeom prst="roundRect">
            <a:avLst>
              <a:gd name="adj" fmla="val 242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684251" y="2903736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3779501" y="2941836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4137680" y="2932311"/>
            <a:ext cx="181348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12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GAP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3684251" y="3329186"/>
            <a:ext cx="371602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nothing?"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684251" y="3866356"/>
            <a:ext cx="3479546" cy="5237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5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reward isn't received, no reason is provided. Users cannot distinguish ineligible from failed from pending.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952500" y="9567863"/>
            <a:ext cx="1239695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¹ Source: RewardTrust PRD v1.0 — Kiwi funnel analysis and industry benchmarks. 95.39% first-time non-discovery, 63.05% invisible reward events, 16.3-day discovery time, 83.44% return rate.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16935450" y="9571831"/>
            <a:ext cx="47625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81025"/>
            <a:ext cx="19556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FINDINGS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882801" y="5715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38200"/>
            <a:ext cx="18021300" cy="5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8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Forensic Audit of 5 Products × 5 Payment Methods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1435398"/>
            <a:ext cx="1802130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RewardTrust_Dataset_2025_1.xlsx · 25 combinations researched · Official sources only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2500" y="1898948"/>
            <a:ext cx="5270500" cy="7524452"/>
          </a:xfrm>
          <a:prstGeom prst="roundRect">
            <a:avLst>
              <a:gd name="adj" fmla="val 18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1750" y="2210098"/>
            <a:ext cx="50292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DISTRIBUTION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1301750" y="2603798"/>
            <a:ext cx="50292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25 official source combinations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1301750" y="295304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231430" y="295304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161109" y="295304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90789" y="295304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0469" y="295304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01750" y="388272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31430" y="388272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161109" y="388272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090789" y="388272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020469" y="3882728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01750" y="481240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31430" y="481240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161109" y="481240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090789" y="481240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20469" y="481240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301750" y="574208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31430" y="574208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161109" y="574208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090789" y="574208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20469" y="574208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301750" y="667176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31430" y="667176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161109" y="667176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90789" y="667176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020469" y="6671767"/>
            <a:ext cx="853480" cy="853480"/>
          </a:xfrm>
          <a:prstGeom prst="roundRect">
            <a:avLst>
              <a:gd name="adj" fmla="val 4464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301750" y="78205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1568450" y="7795121"/>
            <a:ext cx="396879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5290741" y="7791946"/>
            <a:ext cx="659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25</a:t>
            </a:r>
            <a:endParaRPr lang="en-US" sz="1275" dirty="0"/>
          </a:p>
        </p:txBody>
      </p:sp>
      <p:sp>
        <p:nvSpPr>
          <p:cNvPr id="37" name="Shape 35"/>
          <p:cNvSpPr/>
          <p:nvPr/>
        </p:nvSpPr>
        <p:spPr>
          <a:xfrm>
            <a:off x="1301750" y="81253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9B5E8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568450" y="8099921"/>
            <a:ext cx="396879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confidence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5290741" y="8096746"/>
            <a:ext cx="659209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25</a:t>
            </a:r>
            <a:endParaRPr lang="en-US" sz="1275" dirty="0"/>
          </a:p>
        </p:txBody>
      </p:sp>
      <p:sp>
        <p:nvSpPr>
          <p:cNvPr id="40" name="Shape 38"/>
          <p:cNvSpPr/>
          <p:nvPr/>
        </p:nvSpPr>
        <p:spPr>
          <a:xfrm>
            <a:off x="1301750" y="84301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568450" y="8404721"/>
            <a:ext cx="3861941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confidence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5193606" y="8401546"/>
            <a:ext cx="75634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25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6680200" y="1898948"/>
            <a:ext cx="1172083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FINDINGS FROM DATASET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6680200" y="2254548"/>
            <a:ext cx="10655301" cy="1160066"/>
          </a:xfrm>
          <a:prstGeom prst="roundRect">
            <a:avLst>
              <a:gd name="adj" fmla="val 6569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15150" y="2451398"/>
            <a:ext cx="74483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6915150" y="2813348"/>
            <a:ext cx="7448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25 = HIGH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74285" y="2451398"/>
            <a:ext cx="9525" cy="76636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971136" y="2451398"/>
            <a:ext cx="1004235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HIGH-CONFIDENCE SOURCES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971136" y="2686348"/>
            <a:ext cx="9403297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of 25 merchant × payment combinations returned explicit, unambiguous documentation from official sources.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680200" y="3567013"/>
            <a:ext cx="10655301" cy="1160066"/>
          </a:xfrm>
          <a:prstGeom prst="roundRect">
            <a:avLst>
              <a:gd name="adj" fmla="val 6569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15150" y="3763863"/>
            <a:ext cx="7273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6915150" y="4125813"/>
            <a:ext cx="72737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25 = LOW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756823" y="3763863"/>
            <a:ext cx="9525" cy="76636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953673" y="3763863"/>
            <a:ext cx="1006156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LOW CONFIDENCE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953673" y="3998813"/>
            <a:ext cx="9421284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of 25 combinations: rates missing, ambiguous, or not verifiable. 8 combinations: ALL reward fields undocumented.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6680200" y="4879479"/>
            <a:ext cx="10655301" cy="901700"/>
          </a:xfrm>
          <a:prstGeom prst="roundRect">
            <a:avLst>
              <a:gd name="adj" fmla="val 8451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15150" y="5076329"/>
            <a:ext cx="101123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5/9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6915150" y="5438279"/>
            <a:ext cx="101123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undated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040688" y="5076329"/>
            <a:ext cx="9525" cy="50065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237538" y="5076329"/>
            <a:ext cx="974931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NEVER DATED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37538" y="5311279"/>
            <a:ext cx="9749314" cy="303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9 official source pages showed 'Last Updated: NOT STATED.' Users cannot assess information currency.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6680200" y="5933579"/>
            <a:ext cx="10655301" cy="1160066"/>
          </a:xfrm>
          <a:prstGeom prst="roundRect">
            <a:avLst>
              <a:gd name="adj" fmla="val 6569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5150" y="6130429"/>
            <a:ext cx="111710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2700" dirty="0"/>
          </a:p>
        </p:txBody>
      </p:sp>
      <p:sp>
        <p:nvSpPr>
          <p:cNvPr id="64" name="Text 62"/>
          <p:cNvSpPr/>
          <p:nvPr/>
        </p:nvSpPr>
        <p:spPr>
          <a:xfrm>
            <a:off x="6915150" y="6492379"/>
            <a:ext cx="1117104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P0-severity gaps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46554" y="6130429"/>
            <a:ext cx="9525" cy="766366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343404" y="6130429"/>
            <a:ext cx="963286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DATA GAPS IDENTIFIED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343404" y="6365379"/>
            <a:ext cx="9019861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Including: CRED coin value (undefined), Amazon Pay partner status (ambiguous), Kiwi merchant rates (app-gated).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952500" y="9585325"/>
            <a:ext cx="954489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RewardTrust_Dataset_2025_1.xlsx — Master Dataset &amp; Confidence Matrix sheets. All numbers exact counts from official source research.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16935450" y="9575800"/>
            <a:ext cx="4762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81025"/>
            <a:ext cx="21523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61593" y="5715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38200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900" b="1" kern="0" spc="-78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Ecosystem Is Optimized for Distribution, Not Transparency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1624905"/>
            <a:ext cx="5956300" cy="7798495"/>
          </a:xfrm>
          <a:prstGeom prst="roundRect">
            <a:avLst>
              <a:gd name="adj" fmla="val 1599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3650" y="1897956"/>
            <a:ext cx="58674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TRUST SCORES — AUDIT FINDINGS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263650" y="2139255"/>
            <a:ext cx="54940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1–10 across transparency, predictability, explainability, consistency, trustworthiness</a:t>
            </a:r>
            <a:endParaRPr lang="en-US" sz="10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1263650" y="2713931"/>
            <a:ext cx="209550" cy="2095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7500" y="2710755"/>
            <a:ext cx="1156295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58644" y="2710755"/>
            <a:ext cx="53349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6/10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1193" y="2717106"/>
            <a:ext cx="386457" cy="203200"/>
          </a:xfrm>
          <a:prstGeom prst="roundRect">
            <a:avLst>
              <a:gd name="adj" fmla="val 18750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287393" y="2745681"/>
            <a:ext cx="31025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1263650" y="2993331"/>
            <a:ext cx="5334000" cy="95250"/>
          </a:xfrm>
          <a:prstGeom prst="roundRect">
            <a:avLst>
              <a:gd name="adj" fmla="val 4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263650" y="2993331"/>
            <a:ext cx="3200400" cy="95250"/>
          </a:xfrm>
          <a:prstGeom prst="roundRect">
            <a:avLst>
              <a:gd name="adj" fmla="val 40000"/>
            </a:avLst>
          </a:prstGeom>
          <a:solidFill>
            <a:srgbClr val="F5B73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1263650" y="3263205"/>
            <a:ext cx="209550" cy="2095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87500" y="3260031"/>
            <a:ext cx="42554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Kiwi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911652" y="3260031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3.5/10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1263650" y="3542606"/>
            <a:ext cx="5334000" cy="95250"/>
          </a:xfrm>
          <a:prstGeom prst="roundRect">
            <a:avLst>
              <a:gd name="adj" fmla="val 4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1263650" y="3542606"/>
            <a:ext cx="1866900" cy="95250"/>
          </a:xfrm>
          <a:prstGeom prst="roundRect">
            <a:avLst>
              <a:gd name="adj" fmla="val 40000"/>
            </a:avLst>
          </a:prstGeom>
          <a:solidFill>
            <a:srgbClr val="7A95B8">
              <a:alpha val="70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rcRect/>
          <a:stretch/>
        </p:blipFill>
        <p:spPr>
          <a:xfrm>
            <a:off x="1263650" y="3812481"/>
            <a:ext cx="209550" cy="2095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87500" y="3809306"/>
            <a:ext cx="860127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911652" y="3809306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3.2/10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1263650" y="4091880"/>
            <a:ext cx="5334000" cy="95250"/>
          </a:xfrm>
          <a:prstGeom prst="roundRect">
            <a:avLst>
              <a:gd name="adj" fmla="val 4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263650" y="4091880"/>
            <a:ext cx="1706860" cy="95250"/>
          </a:xfrm>
          <a:prstGeom prst="roundRect">
            <a:avLst>
              <a:gd name="adj" fmla="val 40000"/>
            </a:avLst>
          </a:prstGeom>
          <a:solidFill>
            <a:srgbClr val="7A95B8">
              <a:alpha val="60000"/>
            </a:srgbClr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263650" y="4361756"/>
            <a:ext cx="209550" cy="20955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87500" y="4358580"/>
            <a:ext cx="61614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Paytm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911652" y="4358580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2.8/10</a:t>
            </a:r>
            <a:endParaRPr lang="en-US" sz="1500" dirty="0"/>
          </a:p>
        </p:txBody>
      </p:sp>
      <p:sp>
        <p:nvSpPr>
          <p:cNvPr id="28" name="Shape 22"/>
          <p:cNvSpPr/>
          <p:nvPr/>
        </p:nvSpPr>
        <p:spPr>
          <a:xfrm>
            <a:off x="1263650" y="4641156"/>
            <a:ext cx="5334000" cy="95250"/>
          </a:xfrm>
          <a:prstGeom prst="roundRect">
            <a:avLst>
              <a:gd name="adj" fmla="val 4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1263650" y="4641156"/>
            <a:ext cx="1493441" cy="95250"/>
          </a:xfrm>
          <a:prstGeom prst="roundRect">
            <a:avLst>
              <a:gd name="adj" fmla="val 40000"/>
            </a:avLst>
          </a:prstGeom>
          <a:solidFill>
            <a:srgbClr val="7A95B8">
              <a:alpha val="50000"/>
            </a:srgbClr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/>
          <a:stretch/>
        </p:blipFill>
        <p:spPr>
          <a:xfrm>
            <a:off x="1263650" y="4911030"/>
            <a:ext cx="209550" cy="2095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87500" y="4907856"/>
            <a:ext cx="61604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5911652" y="4907856"/>
            <a:ext cx="762198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080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2.3/10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1263650" y="5190431"/>
            <a:ext cx="5334000" cy="95250"/>
          </a:xfrm>
          <a:prstGeom prst="roundRect">
            <a:avLst>
              <a:gd name="adj" fmla="val 4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Shape 27"/>
          <p:cNvSpPr/>
          <p:nvPr/>
        </p:nvSpPr>
        <p:spPr>
          <a:xfrm>
            <a:off x="1263650" y="5190431"/>
            <a:ext cx="1226741" cy="95250"/>
          </a:xfrm>
          <a:prstGeom prst="roundRect">
            <a:avLst>
              <a:gd name="adj" fmla="val 40000"/>
            </a:avLst>
          </a:prstGeom>
          <a:solidFill>
            <a:srgbClr val="F08030">
              <a:alpha val="8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263650" y="8991600"/>
            <a:ext cx="58674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RewardTrust Audit 2025 — Section H, Product Trust Analysis</a:t>
            </a:r>
            <a:endParaRPr lang="en-US" sz="975" dirty="0"/>
          </a:p>
        </p:txBody>
      </p:sp>
      <p:sp>
        <p:nvSpPr>
          <p:cNvPr id="36" name="Text 29"/>
          <p:cNvSpPr/>
          <p:nvPr/>
        </p:nvSpPr>
        <p:spPr>
          <a:xfrm>
            <a:off x="7366000" y="1624905"/>
            <a:ext cx="1096645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13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SYSTEM BEHAVES THIS WAY</a:t>
            </a:r>
            <a:endParaRPr lang="en-US" sz="1125" dirty="0"/>
          </a:p>
        </p:txBody>
      </p:sp>
      <p:sp>
        <p:nvSpPr>
          <p:cNvPr id="37" name="Shape 30"/>
          <p:cNvSpPr/>
          <p:nvPr/>
        </p:nvSpPr>
        <p:spPr>
          <a:xfrm>
            <a:off x="7366000" y="1942406"/>
            <a:ext cx="9969501" cy="1179116"/>
          </a:xfrm>
          <a:prstGeom prst="roundRect">
            <a:avLst>
              <a:gd name="adj" fmla="val 6462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00950" y="2158305"/>
            <a:ext cx="342900" cy="3429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096250" y="2139255"/>
            <a:ext cx="99047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Marketing Incentive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8096250" y="2393256"/>
            <a:ext cx="9274429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earn user acquisition by promoting rewards prominently. They have no business incentive to document conditions that reduce eligibility.</a:t>
            </a:r>
            <a:endParaRPr lang="en-US" sz="1350" dirty="0"/>
          </a:p>
        </p:txBody>
      </p:sp>
      <p:sp>
        <p:nvSpPr>
          <p:cNvPr id="41" name="Shape 33"/>
          <p:cNvSpPr/>
          <p:nvPr/>
        </p:nvSpPr>
        <p:spPr>
          <a:xfrm>
            <a:off x="7366000" y="3254871"/>
            <a:ext cx="9969501" cy="1179116"/>
          </a:xfrm>
          <a:prstGeom prst="roundRect">
            <a:avLst>
              <a:gd name="adj" fmla="val 6462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00950" y="3470771"/>
            <a:ext cx="342900" cy="34290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096250" y="3451721"/>
            <a:ext cx="99047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Opacity as Strategy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8096250" y="3705721"/>
            <a:ext cx="9274429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 Coins with no fixed monetary value. Rates buried in T&amp;Cs. Exclusions absent from offer cards. Opacity is not a bug — it reduces reward costs while maintaining the marketing benefit.</a:t>
            </a:r>
            <a:endParaRPr lang="en-US" sz="1350" dirty="0"/>
          </a:p>
        </p:txBody>
      </p:sp>
      <p:sp>
        <p:nvSpPr>
          <p:cNvPr id="45" name="Shape 36"/>
          <p:cNvSpPr/>
          <p:nvPr/>
        </p:nvSpPr>
        <p:spPr>
          <a:xfrm>
            <a:off x="7366000" y="4567337"/>
            <a:ext cx="9969501" cy="1179116"/>
          </a:xfrm>
          <a:prstGeom prst="roundRect">
            <a:avLst>
              <a:gd name="adj" fmla="val 6462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00950" y="4783237"/>
            <a:ext cx="342900" cy="3429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8096250" y="4764187"/>
            <a:ext cx="99047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 Mechanism</a:t>
            </a:r>
            <a:endParaRPr lang="en-US" sz="1350" dirty="0"/>
          </a:p>
        </p:txBody>
      </p:sp>
      <p:sp>
        <p:nvSpPr>
          <p:cNvPr id="48" name="Text 38"/>
          <p:cNvSpPr/>
          <p:nvPr/>
        </p:nvSpPr>
        <p:spPr>
          <a:xfrm>
            <a:off x="8096250" y="5018187"/>
            <a:ext cx="9274429" cy="5695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who don't receive a reward rarely know they were eligible. No comparison point exists. Products face no consequences for low transparency.</a:t>
            </a:r>
            <a:endParaRPr lang="en-US" sz="1350" dirty="0"/>
          </a:p>
        </p:txBody>
      </p:sp>
      <p:sp>
        <p:nvSpPr>
          <p:cNvPr id="49" name="Shape 39"/>
          <p:cNvSpPr/>
          <p:nvPr/>
        </p:nvSpPr>
        <p:spPr>
          <a:xfrm>
            <a:off x="7366000" y="5879803"/>
            <a:ext cx="9969501" cy="1457524"/>
          </a:xfrm>
          <a:prstGeom prst="roundRect">
            <a:avLst>
              <a:gd name="adj" fmla="val 5228"/>
            </a:avLst>
          </a:prstGeom>
          <a:solidFill>
            <a:srgbClr val="192C48"/>
          </a:solidFill>
          <a:ln w="12700">
            <a:solidFill>
              <a:srgbClr val="F5B731">
                <a:alpha val="20000"/>
              </a:srgbClr>
            </a:solidFill>
            <a:prstDash val="solid"/>
          </a:ln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07300" y="6102053"/>
            <a:ext cx="342900" cy="34290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8102600" y="6083003"/>
            <a:ext cx="989076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Layer</a:t>
            </a:r>
            <a:endParaRPr lang="en-US" sz="1350" dirty="0"/>
          </a:p>
        </p:txBody>
      </p:sp>
      <p:sp>
        <p:nvSpPr>
          <p:cNvPr id="52" name="Text 41"/>
          <p:cNvSpPr/>
          <p:nvPr/>
        </p:nvSpPr>
        <p:spPr>
          <a:xfrm>
            <a:off x="8102600" y="6337003"/>
            <a:ext cx="9261348" cy="8352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needed to close the trust gap exists — in T&amp;Cs, help centers, official policies. It is fragmented, not absent. A neutral aggregator can fill this gap without requiring any incumbent to change behavior.</a:t>
            </a:r>
            <a:endParaRPr lang="en-US" sz="1350" dirty="0"/>
          </a:p>
        </p:txBody>
      </p:sp>
      <p:sp>
        <p:nvSpPr>
          <p:cNvPr id="53" name="Text 42"/>
          <p:cNvSpPr/>
          <p:nvPr/>
        </p:nvSpPr>
        <p:spPr>
          <a:xfrm>
            <a:off x="952500" y="9575800"/>
            <a:ext cx="8366611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scores from RewardTrust Audit 2025 Section H. Root cause analysis derived from official source review across 5 products.</a:t>
            </a:r>
            <a:endParaRPr lang="en-US" sz="975" dirty="0"/>
          </a:p>
        </p:txBody>
      </p:sp>
      <p:sp>
        <p:nvSpPr>
          <p:cNvPr id="54" name="Text 43"/>
          <p:cNvSpPr/>
          <p:nvPr/>
        </p:nvSpPr>
        <p:spPr>
          <a:xfrm>
            <a:off x="16935450" y="9575800"/>
            <a:ext cx="4762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42925"/>
            <a:ext cx="218095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087588" y="5334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00100"/>
            <a:ext cx="18021300" cy="5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8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— One Clear Choice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952500" y="1454448"/>
            <a:ext cx="180213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JTBD driving the choice: users are not asking 'which reward is highest?' — they are asking 'can I trust that this reward will actually work?'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952500" y="1911648"/>
            <a:ext cx="5300067" cy="6905327"/>
          </a:xfrm>
          <a:prstGeom prst="roundRect">
            <a:avLst>
              <a:gd name="adj" fmla="val 1797"/>
            </a:avLst>
          </a:prstGeom>
          <a:solidFill>
            <a:srgbClr val="111E35">
              <a:alpha val="7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550" y="2184698"/>
            <a:ext cx="30499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998244" y="2260898"/>
            <a:ext cx="981273" cy="241300"/>
          </a:xfrm>
          <a:prstGeom prst="roundRect">
            <a:avLst>
              <a:gd name="adj" fmla="val 15789"/>
            </a:avLst>
          </a:prstGeom>
          <a:solidFill>
            <a:srgbClr val="F05050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112544" y="2308523"/>
            <a:ext cx="82887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225550" y="2730798"/>
            <a:ext cx="52293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Comparison Tool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25550" y="3073698"/>
            <a:ext cx="522936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the highest cashback"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225550" y="3384848"/>
            <a:ext cx="4896586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reward rates across apps. Rank by cashback percentage.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225550" y="4039096"/>
            <a:ext cx="4753967" cy="374650"/>
          </a:xfrm>
          <a:prstGeom prst="roundRect">
            <a:avLst>
              <a:gd name="adj" fmla="val 15254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358900" y="4134346"/>
            <a:ext cx="4629886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JTBD: I want to know which app pays more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225550" y="4566146"/>
            <a:ext cx="1904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5951" y="4566146"/>
            <a:ext cx="139754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Familiar category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5550" y="4832846"/>
            <a:ext cx="1904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5951" y="4832846"/>
            <a:ext cx="1192014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explain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25550" y="5099546"/>
            <a:ext cx="200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26270" y="5099546"/>
            <a:ext cx="132333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Crowded market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25550" y="5366246"/>
            <a:ext cx="200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6270" y="5366246"/>
            <a:ext cx="219056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Commoditized immediately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81167" y="1911648"/>
            <a:ext cx="5325567" cy="6905327"/>
          </a:xfrm>
          <a:prstGeom prst="roundRect">
            <a:avLst>
              <a:gd name="adj" fmla="val 1789"/>
            </a:avLst>
          </a:prstGeom>
          <a:solidFill>
            <a:srgbClr val="192C48"/>
          </a:solidFill>
          <a:ln w="19050">
            <a:solidFill>
              <a:srgbClr val="F5B731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4909" y="1921173"/>
            <a:ext cx="1017984" cy="209550"/>
          </a:xfrm>
          <a:prstGeom prst="rect">
            <a:avLst/>
          </a:prstGeom>
          <a:solidFill>
            <a:srgbClr val="F5B731"/>
          </a:solidFill>
          <a:ln/>
        </p:spPr>
      </p:sp>
      <p:sp>
        <p:nvSpPr>
          <p:cNvPr id="25" name="Text 23"/>
          <p:cNvSpPr/>
          <p:nvPr/>
        </p:nvSpPr>
        <p:spPr>
          <a:xfrm>
            <a:off x="8787309" y="1959273"/>
            <a:ext cx="7893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0B14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66917" y="2349798"/>
            <a:ext cx="304998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10526911" y="2419648"/>
            <a:ext cx="994073" cy="254000"/>
          </a:xfrm>
          <a:prstGeom prst="roundRect">
            <a:avLst>
              <a:gd name="adj" fmla="val 15000"/>
            </a:avLst>
          </a:prstGeom>
          <a:solidFill>
            <a:srgbClr val="F5B731">
              <a:alpha val="10000"/>
            </a:srgbClr>
          </a:solidFill>
          <a:ln w="6350">
            <a:solidFill>
              <a:srgbClr val="F5B731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47561" y="2473623"/>
            <a:ext cx="82897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6766917" y="2895898"/>
            <a:ext cx="52294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Trust Layer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766917" y="3238798"/>
            <a:ext cx="52294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what I can rely on"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66917" y="3549948"/>
            <a:ext cx="4896688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rates against official sources. Surface conditions, exclusions, confidence scores. Answer both pre- and post-payment questions.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6766917" y="4455121"/>
            <a:ext cx="4754067" cy="387350"/>
          </a:xfrm>
          <a:prstGeom prst="roundRect">
            <a:avLst>
              <a:gd name="adj" fmla="val 14754"/>
            </a:avLst>
          </a:prstGeom>
          <a:solidFill>
            <a:srgbClr val="F5B731">
              <a:alpha val="10000"/>
            </a:srgbClr>
          </a:solidFill>
          <a:ln w="6350">
            <a:solidFill>
              <a:srgbClr val="F5B731">
                <a:alpha val="2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6617" y="4556721"/>
            <a:ext cx="46172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JTBD: Can I trust this reward will actually work?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766917" y="4994871"/>
            <a:ext cx="1904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57318" y="4994871"/>
            <a:ext cx="163198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= defensible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917" y="5261571"/>
            <a:ext cx="1904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57318" y="5261571"/>
            <a:ext cx="320938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actual user emotion: confidence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917" y="5528271"/>
            <a:ext cx="200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67637" y="5528271"/>
            <a:ext cx="3281859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intuitive initial explanation required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2035334" y="1911648"/>
            <a:ext cx="5300167" cy="6905327"/>
          </a:xfrm>
          <a:prstGeom prst="roundRect">
            <a:avLst>
              <a:gd name="adj" fmla="val 1797"/>
            </a:avLst>
          </a:prstGeom>
          <a:solidFill>
            <a:srgbClr val="111E35">
              <a:alpha val="70000"/>
            </a:srgbClr>
          </a:solidFill>
          <a:ln w="635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308384" y="2184698"/>
            <a:ext cx="323850" cy="431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700" dirty="0"/>
          </a:p>
        </p:txBody>
      </p:sp>
      <p:sp>
        <p:nvSpPr>
          <p:cNvPr id="42" name="Shape 40"/>
          <p:cNvSpPr/>
          <p:nvPr/>
        </p:nvSpPr>
        <p:spPr>
          <a:xfrm>
            <a:off x="16224052" y="2260898"/>
            <a:ext cx="838398" cy="241300"/>
          </a:xfrm>
          <a:prstGeom prst="roundRect">
            <a:avLst>
              <a:gd name="adj" fmla="val 15789"/>
            </a:avLst>
          </a:prstGeom>
          <a:solidFill>
            <a:srgbClr val="29B5E8">
              <a:alpha val="1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16338352" y="2308523"/>
            <a:ext cx="6859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2308384" y="2730798"/>
            <a:ext cx="522947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Payment Advisor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308384" y="3073698"/>
            <a:ext cx="5229473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"Tell me what to do"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2308384" y="3384848"/>
            <a:ext cx="4896688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payment optimization. AI-driven recommendation based on spending patterns.</a:t>
            </a:r>
            <a:endParaRPr lang="en-US" sz="1275" dirty="0"/>
          </a:p>
        </p:txBody>
      </p:sp>
      <p:sp>
        <p:nvSpPr>
          <p:cNvPr id="47" name="Shape 45"/>
          <p:cNvSpPr/>
          <p:nvPr/>
        </p:nvSpPr>
        <p:spPr>
          <a:xfrm>
            <a:off x="12308384" y="4039096"/>
            <a:ext cx="4754067" cy="374650"/>
          </a:xfrm>
          <a:prstGeom prst="roundRect">
            <a:avLst>
              <a:gd name="adj" fmla="val 15254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2441734" y="4134346"/>
            <a:ext cx="462998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JTBD: Manage my rewards for me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12308384" y="4566146"/>
            <a:ext cx="19040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498785" y="4566146"/>
            <a:ext cx="1676837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perceived value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2308384" y="4832846"/>
            <a:ext cx="200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09104" y="4832846"/>
            <a:ext cx="3172282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personalization infrastructure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308384" y="5099546"/>
            <a:ext cx="2007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F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2509104" y="5099546"/>
            <a:ext cx="2672636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recommendation liability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52500" y="8988425"/>
            <a:ext cx="16383000" cy="803275"/>
          </a:xfrm>
          <a:prstGeom prst="roundRect">
            <a:avLst>
              <a:gd name="adj" fmla="val 9486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87450" y="9147175"/>
            <a:ext cx="137350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 positioning is defensible because neutrality cannot be replicated inside an incumbent. The 0/25 HIGH confidence finding validates that verification, not comparison, is the missing product.</a:t>
            </a:r>
            <a:endParaRPr lang="en-US" sz="1275" dirty="0"/>
          </a:p>
        </p:txBody>
      </p:sp>
      <p:sp>
        <p:nvSpPr>
          <p:cNvPr id="57" name="Text 55"/>
          <p:cNvSpPr/>
          <p:nvPr/>
        </p:nvSpPr>
        <p:spPr>
          <a:xfrm>
            <a:off x="16700500" y="9301163"/>
            <a:ext cx="47625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42925"/>
            <a:ext cx="184884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FRAMEWORK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2785666" y="5334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00100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900" b="1" kern="0" spc="-78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Over Coverage: The Operating Principle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1377255"/>
            <a:ext cx="180213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record in the RewardTrust database contains 7 fields. This schema is the product architecture — not just a data model.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52500" y="1809056"/>
            <a:ext cx="3995738" cy="3615829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68400" y="2005905"/>
            <a:ext cx="266700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0350" y="2050356"/>
            <a:ext cx="1022152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Value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8400" y="2367855"/>
            <a:ext cx="3670856" cy="2450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in ₹, not %. Blank = not documented. Never estimated.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68400" y="4875609"/>
            <a:ext cx="3563938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263650" y="4951809"/>
            <a:ext cx="3480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"₹22.50" or "⚠ Not Documented"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81588" y="1809056"/>
            <a:ext cx="3995738" cy="3615829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97488" y="2005905"/>
            <a:ext cx="266700" cy="2667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59438" y="2050356"/>
            <a:ext cx="79633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297488" y="2367855"/>
            <a:ext cx="3670856" cy="2450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qualifying condition shown inline, pre-transaction. None hidden.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297488" y="4875609"/>
            <a:ext cx="3563938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5392738" y="4951809"/>
            <a:ext cx="3480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"Min ₹200 spend • UPI only"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210675" y="1809056"/>
            <a:ext cx="3995738" cy="3615829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26575" y="2005905"/>
            <a:ext cx="266700" cy="2667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788526" y="2050356"/>
            <a:ext cx="8046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9426575" y="2367855"/>
            <a:ext cx="3670856" cy="2450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documented exclusion. Shown before the user pays, not after.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426575" y="4875609"/>
            <a:ext cx="3563938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521825" y="4951809"/>
            <a:ext cx="3480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"EMI • Wallet loads • Gift cards"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13339763" y="1809056"/>
            <a:ext cx="3995738" cy="3615829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555663" y="2005905"/>
            <a:ext cx="266700" cy="2667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917613" y="2050356"/>
            <a:ext cx="90636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URL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555663" y="2367855"/>
            <a:ext cx="3670856" cy="2450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traces to an official document. Non-official sources not accepted.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13555663" y="4875609"/>
            <a:ext cx="3563938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13650913" y="4951809"/>
            <a:ext cx="348035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"amazon.in/amazonpay/icici..."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52500" y="5558235"/>
            <a:ext cx="5367834" cy="3615928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168400" y="5755085"/>
            <a:ext cx="266700" cy="2667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30350" y="5799534"/>
            <a:ext cx="914995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Verified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168400" y="6117035"/>
            <a:ext cx="5084115" cy="2450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signal on every data point. Stale data is flagged, not hidden.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1168400" y="8624888"/>
            <a:ext cx="4936034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1263650" y="8701088"/>
            <a:ext cx="48936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"Jun 10, 2026 — ⚠ 5 sources: NOT STATED"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453684" y="5558235"/>
            <a:ext cx="5380633" cy="3615928"/>
          </a:xfrm>
          <a:prstGeom prst="roundRect">
            <a:avLst>
              <a:gd name="adj" fmla="val 2107"/>
            </a:avLst>
          </a:prstGeom>
          <a:solidFill>
            <a:srgbClr val="192C48"/>
          </a:solidFill>
          <a:ln w="12700">
            <a:solidFill>
              <a:srgbClr val="F5B731">
                <a:alpha val="25000"/>
              </a:srgbClr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75934" y="5761434"/>
            <a:ext cx="266700" cy="2667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037884" y="5805885"/>
            <a:ext cx="847229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675934" y="6123384"/>
            <a:ext cx="5084217" cy="2438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/ MEDIUM / LOW — always shown. Uncertainty is part of the product.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675934" y="8618538"/>
            <a:ext cx="4936133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6771184" y="8694738"/>
            <a:ext cx="48937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"MEDIUM — interpretation required"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11967667" y="5558235"/>
            <a:ext cx="5367834" cy="3615928"/>
          </a:xfrm>
          <a:prstGeom prst="roundRect">
            <a:avLst>
              <a:gd name="adj" fmla="val 2107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183567" y="5755085"/>
            <a:ext cx="266700" cy="2667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12545517" y="5799534"/>
            <a:ext cx="931664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Quote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12183567" y="6117035"/>
            <a:ext cx="5084115" cy="2450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HIGH/MEDIUM record cites exact language from official source.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12183567" y="8624888"/>
            <a:ext cx="4936034" cy="352425"/>
          </a:xfrm>
          <a:prstGeom prst="roundRect">
            <a:avLst>
              <a:gd name="adj" fmla="val 13514"/>
            </a:avLst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38"/>
          <p:cNvSpPr/>
          <p:nvPr/>
        </p:nvSpPr>
        <p:spPr>
          <a:xfrm>
            <a:off x="12278817" y="8701088"/>
            <a:ext cx="489361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VERIFIABLE FROM OFFICIAL SOURCES"</a:t>
            </a:r>
            <a:endParaRPr lang="en-US" sz="1050" dirty="0"/>
          </a:p>
        </p:txBody>
      </p:sp>
      <p:sp>
        <p:nvSpPr>
          <p:cNvPr id="48" name="Shape 39"/>
          <p:cNvSpPr/>
          <p:nvPr/>
        </p:nvSpPr>
        <p:spPr>
          <a:xfrm>
            <a:off x="952500" y="9307513"/>
            <a:ext cx="16383000" cy="522288"/>
          </a:xfrm>
          <a:prstGeom prst="roundRect">
            <a:avLst>
              <a:gd name="adj" fmla="val 14590"/>
            </a:avLst>
          </a:prstGeom>
          <a:solidFill>
            <a:srgbClr val="F5B731">
              <a:alpha val="10000"/>
            </a:srgbClr>
          </a:solidFill>
          <a:ln w="6350">
            <a:solidFill>
              <a:srgbClr val="F5B731">
                <a:alpha val="20000"/>
              </a:srgbClr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1187450" y="9447213"/>
            <a:ext cx="12763015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75" i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principle: 'A single confidently-delivered inaccurate result destroys more trust than ten accurately-delivered low-value results.' — RewardTrust PRD v1.0</a:t>
            </a:r>
            <a:endParaRPr lang="en-US" sz="1275" dirty="0"/>
          </a:p>
        </p:txBody>
      </p:sp>
      <p:sp>
        <p:nvSpPr>
          <p:cNvPr id="50" name="Text 41"/>
          <p:cNvSpPr/>
          <p:nvPr/>
        </p:nvSpPr>
        <p:spPr>
          <a:xfrm>
            <a:off x="16700500" y="9479756"/>
            <a:ext cx="47625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42925"/>
            <a:ext cx="4292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457920" y="5334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00100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900" b="1" kern="0" spc="-78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Product That Proves the Hypothesis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1377255"/>
            <a:ext cx="1802130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Hypothesis: users presented with accurate pre-transaction reward information will make measurably different payment choices.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52500" y="1790006"/>
            <a:ext cx="5219700" cy="7472264"/>
          </a:xfrm>
          <a:prstGeom prst="roundRect">
            <a:avLst>
              <a:gd name="adj" fmla="val 1825"/>
            </a:avLst>
          </a:prstGeom>
          <a:solidFill>
            <a:srgbClr val="111E35"/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3650" y="2063055"/>
            <a:ext cx="50571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263650" y="2405955"/>
            <a:ext cx="5057140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enters three fields. No account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3650" y="2831406"/>
            <a:ext cx="4597400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0500" y="3009206"/>
            <a:ext cx="46240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460500" y="3231456"/>
            <a:ext cx="46240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Swiggy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63650" y="3866456"/>
            <a:ext cx="4597400" cy="882650"/>
          </a:xfrm>
          <a:prstGeom prst="roundRect">
            <a:avLst>
              <a:gd name="adj" fmla="val 863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0500" y="4044255"/>
            <a:ext cx="46240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460500" y="4266506"/>
            <a:ext cx="46240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₹450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263650" y="4901505"/>
            <a:ext cx="4597400" cy="844550"/>
          </a:xfrm>
          <a:prstGeom prst="roundRect">
            <a:avLst>
              <a:gd name="adj" fmla="val 9023"/>
            </a:avLst>
          </a:prstGeom>
          <a:solidFill>
            <a:srgbClr val="FFFFFF">
              <a:alpha val="4000"/>
            </a:srgbClr>
          </a:solidFill>
          <a:ln w="6350">
            <a:solidFill>
              <a:srgbClr val="FFFFFF">
                <a:alpha val="13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0500" y="5079306"/>
            <a:ext cx="46240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460500" y="5301555"/>
            <a:ext cx="46240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Pay ICICI CC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48450" y="5307013"/>
            <a:ext cx="4572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7505700" y="1790006"/>
            <a:ext cx="9829800" cy="7472264"/>
          </a:xfrm>
          <a:prstGeom prst="roundRect">
            <a:avLst>
              <a:gd name="adj" fmla="val 1275"/>
            </a:avLst>
          </a:prstGeom>
          <a:solidFill>
            <a:srgbClr val="192C48"/>
          </a:solidFill>
          <a:ln w="12700">
            <a:solidFill>
              <a:srgbClr val="F5B731">
                <a:alpha val="30000"/>
              </a:srgbClr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00" y="2069406"/>
            <a:ext cx="266700" cy="2667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204200" y="2126556"/>
            <a:ext cx="20933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26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 OUTPUT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823200" y="3028256"/>
            <a:ext cx="9194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823200" y="2659956"/>
            <a:ext cx="1981200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Reward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9728200" y="2659956"/>
            <a:ext cx="2766606" cy="273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₹22.50 cashback (5%)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7823200" y="3783905"/>
            <a:ext cx="9194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7823200" y="3167955"/>
            <a:ext cx="198120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9728200" y="3167955"/>
            <a:ext cx="297964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Pay accepted at Swiggy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728200" y="3428306"/>
            <a:ext cx="297964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Pay ICICI card required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823200" y="4491931"/>
            <a:ext cx="9194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823200" y="3923606"/>
            <a:ext cx="1981200" cy="473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</a:t>
            </a:r>
            <a:endParaRPr lang="en-US" sz="1125" dirty="0"/>
          </a:p>
        </p:txBody>
      </p:sp>
      <p:sp>
        <p:nvSpPr>
          <p:cNvPr id="31" name="Text 28"/>
          <p:cNvSpPr/>
          <p:nvPr/>
        </p:nvSpPr>
        <p:spPr>
          <a:xfrm>
            <a:off x="9728200" y="3923606"/>
            <a:ext cx="2637492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08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loads • EMI • Gift cards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9728200" y="4174431"/>
            <a:ext cx="2637492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eligible</a:t>
            </a:r>
            <a:endParaRPr lang="en-US" sz="1125" dirty="0"/>
          </a:p>
        </p:txBody>
      </p:sp>
      <p:sp>
        <p:nvSpPr>
          <p:cNvPr id="33" name="Shape 30"/>
          <p:cNvSpPr/>
          <p:nvPr/>
        </p:nvSpPr>
        <p:spPr>
          <a:xfrm>
            <a:off x="7823200" y="4949131"/>
            <a:ext cx="9194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823200" y="4631631"/>
            <a:ext cx="209550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9728200" y="4631631"/>
            <a:ext cx="3866198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amazon.in/amazonpay/icicibank-credit-card</a:t>
            </a:r>
            <a:endParaRPr lang="en-US" sz="1125" dirty="0"/>
          </a:p>
        </p:txBody>
      </p:sp>
      <p:sp>
        <p:nvSpPr>
          <p:cNvPr id="36" name="Shape 33"/>
          <p:cNvSpPr/>
          <p:nvPr/>
        </p:nvSpPr>
        <p:spPr>
          <a:xfrm>
            <a:off x="7823200" y="5431731"/>
            <a:ext cx="9194800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823200" y="5088831"/>
            <a:ext cx="20955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Verified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9728200" y="5088831"/>
            <a:ext cx="124212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10, 2026</a:t>
            </a:r>
            <a:endParaRPr lang="en-US" sz="1275" dirty="0"/>
          </a:p>
        </p:txBody>
      </p:sp>
      <p:sp>
        <p:nvSpPr>
          <p:cNvPr id="39" name="Text 36"/>
          <p:cNvSpPr/>
          <p:nvPr/>
        </p:nvSpPr>
        <p:spPr>
          <a:xfrm>
            <a:off x="7823200" y="5571431"/>
            <a:ext cx="19812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125" dirty="0"/>
          </a:p>
        </p:txBody>
      </p:sp>
      <p:sp>
        <p:nvSpPr>
          <p:cNvPr id="40" name="Shape 37"/>
          <p:cNvSpPr/>
          <p:nvPr/>
        </p:nvSpPr>
        <p:spPr>
          <a:xfrm>
            <a:off x="9728200" y="5571431"/>
            <a:ext cx="919857" cy="254000"/>
          </a:xfrm>
          <a:prstGeom prst="roundRect">
            <a:avLst>
              <a:gd name="adj" fmla="val 15000"/>
            </a:avLst>
          </a:prstGeom>
          <a:solidFill>
            <a:srgbClr val="F5B731">
              <a:alpha val="12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9842500" y="5609531"/>
            <a:ext cx="767457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9728200" y="5863530"/>
            <a:ext cx="4021177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widely published but direct quote not extracted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952500" y="9395619"/>
            <a:ext cx="16305467" cy="4341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success (4 weeks): </a:t>
            </a: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users · 30%+ return rate · NPS ≥ 50 · Zero confirmed data inaccuracies · (Source: PRD v1.0) MVP scope: 20 merchants × 8 payment methods. No account required. Static JSON data store. React + Vercel. Manually curated from official T&amp;Cs weekly. (PRD v1.0, Section 11)</a:t>
            </a:r>
            <a:endParaRPr lang="en-US" sz="975" dirty="0"/>
          </a:p>
        </p:txBody>
      </p:sp>
      <p:sp>
        <p:nvSpPr>
          <p:cNvPr id="44" name="Text 41"/>
          <p:cNvSpPr/>
          <p:nvPr/>
        </p:nvSpPr>
        <p:spPr>
          <a:xfrm>
            <a:off x="16935450" y="9504759"/>
            <a:ext cx="476250" cy="2159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42925"/>
            <a:ext cx="6562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b="1" kern="0" spc="168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684933" y="533400"/>
            <a:ext cx="11584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REWARDTRUST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52500" y="800100"/>
            <a:ext cx="18021300" cy="578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50" b="1" kern="0" spc="-8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Lookup Tool to Trust Infrastructure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952500" y="1568748"/>
            <a:ext cx="3784600" cy="7297440"/>
          </a:xfrm>
          <a:prstGeom prst="roundRect">
            <a:avLst>
              <a:gd name="adj" fmla="val 2517"/>
            </a:avLst>
          </a:prstGeom>
          <a:solidFill>
            <a:srgbClr val="111E35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8859838"/>
            <a:ext cx="37846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52500" y="1568748"/>
            <a:ext cx="37846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1568748"/>
            <a:ext cx="9525" cy="7297440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225550" y="1841798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F5B731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320800" y="1879898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853160" y="1883073"/>
            <a:ext cx="6934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25550" y="2191048"/>
            <a:ext cx="35693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25550" y="2508548"/>
            <a:ext cx="35693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56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PRE-TRANSACTION TRANSPARENCY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25550" y="2826048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1225550" y="3029248"/>
            <a:ext cx="3342196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× Payment Method → Reward Preview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25550" y="3650159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225550" y="3853359"/>
            <a:ext cx="356933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pre-payment reward clarity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25550" y="8205788"/>
            <a:ext cx="3244850" cy="387350"/>
          </a:xfrm>
          <a:prstGeom prst="roundRect">
            <a:avLst>
              <a:gd name="adj" fmla="val 14754"/>
            </a:avLst>
          </a:prstGeom>
          <a:solidFill>
            <a:srgbClr val="F5B731">
              <a:alpha val="10000"/>
            </a:srgbClr>
          </a:solidFill>
          <a:ln w="6350">
            <a:solidFill>
              <a:srgbClr val="F5B731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5250" y="8307388"/>
            <a:ext cx="326199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5B7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MAU · 30% return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4737100" y="1568748"/>
            <a:ext cx="419100" cy="7297440"/>
          </a:xfrm>
          <a:prstGeom prst="rect">
            <a:avLst/>
          </a:prstGeom>
          <a:solidFill>
            <a:srgbClr val="111E35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737100" y="885983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37100" y="156874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41875" y="5084068"/>
            <a:ext cx="285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5B731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5156200" y="1568748"/>
            <a:ext cx="3778250" cy="7297440"/>
          </a:xfrm>
          <a:prstGeom prst="rect">
            <a:avLst/>
          </a:prstGeom>
          <a:solidFill>
            <a:srgbClr val="111E3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56200" y="8859838"/>
            <a:ext cx="37782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156200" y="1568748"/>
            <a:ext cx="37782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22900" y="1841798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29B5E8">
              <a:alpha val="1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18150" y="1879898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981950" y="1883073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2–4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2900" y="2191048"/>
            <a:ext cx="35693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5422900" y="2508548"/>
            <a:ext cx="35693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56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POST-TRANSACTION VERIFICATION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422900" y="2826048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422900" y="3029248"/>
            <a:ext cx="3342196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log → Reward Status + Explanation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22900" y="3650159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422900" y="3853359"/>
            <a:ext cx="3342196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 = highest trust-building moment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22900" y="8205788"/>
            <a:ext cx="3244850" cy="387350"/>
          </a:xfrm>
          <a:prstGeom prst="roundRect">
            <a:avLst>
              <a:gd name="adj" fmla="val 14754"/>
            </a:avLst>
          </a:prstGeom>
          <a:solidFill>
            <a:srgbClr val="29B5E8">
              <a:alpha val="10000"/>
            </a:srgbClr>
          </a:solidFill>
          <a:ln w="6350">
            <a:solidFill>
              <a:srgbClr val="29B5E8">
                <a:alpha val="2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62600" y="8307388"/>
            <a:ext cx="326199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10K MAU · 40% log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8934450" y="1568748"/>
            <a:ext cx="419100" cy="7297440"/>
          </a:xfrm>
          <a:prstGeom prst="rect">
            <a:avLst/>
          </a:prstGeom>
          <a:solidFill>
            <a:srgbClr val="111E35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934450" y="885983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934450" y="156874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039225" y="5084068"/>
            <a:ext cx="285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9B5E8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9353550" y="1568748"/>
            <a:ext cx="3778250" cy="7297440"/>
          </a:xfrm>
          <a:prstGeom prst="rect">
            <a:avLst/>
          </a:prstGeom>
          <a:solidFill>
            <a:srgbClr val="111E35"/>
          </a:solidFill>
          <a:ln/>
        </p:spPr>
      </p:sp>
      <p:sp>
        <p:nvSpPr>
          <p:cNvPr id="43" name="Shape 41"/>
          <p:cNvSpPr/>
          <p:nvPr/>
        </p:nvSpPr>
        <p:spPr>
          <a:xfrm>
            <a:off x="9353550" y="8859838"/>
            <a:ext cx="37782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353550" y="1568748"/>
            <a:ext cx="377825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620250" y="1841798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7A95B8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715500" y="1879898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2179301" y="1883073"/>
            <a:ext cx="76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4–9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20250" y="2191048"/>
            <a:ext cx="35693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950" dirty="0"/>
          </a:p>
        </p:txBody>
      </p:sp>
      <p:sp>
        <p:nvSpPr>
          <p:cNvPr id="49" name="Text 47"/>
          <p:cNvSpPr/>
          <p:nvPr/>
        </p:nvSpPr>
        <p:spPr>
          <a:xfrm>
            <a:off x="9620250" y="2508548"/>
            <a:ext cx="35693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56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 &amp; INSIGHTS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620250" y="2826048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9620250" y="3029248"/>
            <a:ext cx="3342196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· Monthly report · Optimization gap · Pro tier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620250" y="3650159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</a:t>
            </a:r>
            <a:endParaRPr lang="en-US" sz="975" dirty="0"/>
          </a:p>
        </p:txBody>
      </p:sp>
      <p:sp>
        <p:nvSpPr>
          <p:cNvPr id="53" name="Text 51"/>
          <p:cNvSpPr/>
          <p:nvPr/>
        </p:nvSpPr>
        <p:spPr>
          <a:xfrm>
            <a:off x="9620250" y="3853359"/>
            <a:ext cx="356933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pay for reward clarity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20250" y="8205788"/>
            <a:ext cx="3244850" cy="387350"/>
          </a:xfrm>
          <a:prstGeom prst="roundRect">
            <a:avLst>
              <a:gd name="adj" fmla="val 14754"/>
            </a:avLst>
          </a:prstGeom>
          <a:solidFill>
            <a:srgbClr val="7A95B8">
              <a:alpha val="8000"/>
            </a:srgbClr>
          </a:solidFill>
          <a:ln w="6350">
            <a:solidFill>
              <a:srgbClr val="7A95B8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59951" y="8307388"/>
            <a:ext cx="326199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50K MAU · 5% Pro</a:t>
            </a:r>
            <a:endParaRPr lang="en-US" sz="1125" dirty="0"/>
          </a:p>
        </p:txBody>
      </p:sp>
      <p:sp>
        <p:nvSpPr>
          <p:cNvPr id="56" name="Shape 54"/>
          <p:cNvSpPr/>
          <p:nvPr/>
        </p:nvSpPr>
        <p:spPr>
          <a:xfrm>
            <a:off x="13131801" y="1568748"/>
            <a:ext cx="419100" cy="7297440"/>
          </a:xfrm>
          <a:prstGeom prst="rect">
            <a:avLst/>
          </a:prstGeom>
          <a:solidFill>
            <a:srgbClr val="111E35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131801" y="885983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3131801" y="1568748"/>
            <a:ext cx="4191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3236576" y="5084068"/>
            <a:ext cx="285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7A95B8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13550901" y="1568748"/>
            <a:ext cx="3784600" cy="7297440"/>
          </a:xfrm>
          <a:prstGeom prst="rect">
            <a:avLst/>
          </a:prstGeom>
          <a:solidFill>
            <a:srgbClr val="111E35"/>
          </a:solidFill>
          <a:ln/>
        </p:spPr>
      </p:sp>
      <p:sp>
        <p:nvSpPr>
          <p:cNvPr id="61" name="Shape 59"/>
          <p:cNvSpPr/>
          <p:nvPr/>
        </p:nvSpPr>
        <p:spPr>
          <a:xfrm>
            <a:off x="13550901" y="8859838"/>
            <a:ext cx="37846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550901" y="1568748"/>
            <a:ext cx="37846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7329151" y="1568748"/>
            <a:ext cx="9525" cy="7297440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817601" y="1841798"/>
            <a:ext cx="339130" cy="234950"/>
          </a:xfrm>
          <a:prstGeom prst="roundRect">
            <a:avLst>
              <a:gd name="adj" fmla="val 16216"/>
            </a:avLst>
          </a:prstGeom>
          <a:solidFill>
            <a:srgbClr val="364E68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3912851" y="1879898"/>
            <a:ext cx="2248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16307991" y="1883073"/>
            <a:ext cx="83065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9–18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3817601" y="2191048"/>
            <a:ext cx="356933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950" dirty="0"/>
          </a:p>
        </p:txBody>
      </p:sp>
      <p:sp>
        <p:nvSpPr>
          <p:cNvPr id="68" name="Text 66"/>
          <p:cNvSpPr/>
          <p:nvPr/>
        </p:nvSpPr>
        <p:spPr>
          <a:xfrm>
            <a:off x="13817601" y="2508548"/>
            <a:ext cx="356933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125" b="1" kern="0" spc="56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TRUST INFRASTRUCTURE</a:t>
            </a:r>
            <a:endParaRPr lang="en-US" sz="1125" dirty="0"/>
          </a:p>
        </p:txBody>
      </p:sp>
      <p:sp>
        <p:nvSpPr>
          <p:cNvPr id="69" name="Text 67"/>
          <p:cNvSpPr/>
          <p:nvPr/>
        </p:nvSpPr>
        <p:spPr>
          <a:xfrm>
            <a:off x="13817601" y="2826048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DELIVERS:</a:t>
            </a:r>
            <a:endParaRPr lang="en-US" sz="975" dirty="0"/>
          </a:p>
        </p:txBody>
      </p:sp>
      <p:sp>
        <p:nvSpPr>
          <p:cNvPr id="70" name="Text 68"/>
          <p:cNvSpPr/>
          <p:nvPr/>
        </p:nvSpPr>
        <p:spPr>
          <a:xfrm>
            <a:off x="13817601" y="3029248"/>
            <a:ext cx="3342196" cy="525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licensing · Trust Score · White-label embed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13817601" y="3650159"/>
            <a:ext cx="356933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kern="0" spc="98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VALIDATES: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13817601" y="3853359"/>
            <a:ext cx="3569335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200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Incumbents pay to embed transparency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3817601" y="8205788"/>
            <a:ext cx="3244850" cy="387350"/>
          </a:xfrm>
          <a:prstGeom prst="roundRect">
            <a:avLst>
              <a:gd name="adj" fmla="val 14754"/>
            </a:avLst>
          </a:prstGeom>
          <a:solidFill>
            <a:srgbClr val="364E68">
              <a:alpha val="15000"/>
            </a:srgbClr>
          </a:solidFill>
          <a:ln w="6350">
            <a:solidFill>
              <a:srgbClr val="364E68">
                <a:alpha val="30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957300" y="8307388"/>
            <a:ext cx="326199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95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200K MAU · ₹40L MRR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952500" y="9074781"/>
            <a:ext cx="12420600" cy="722313"/>
          </a:xfrm>
          <a:prstGeom prst="roundRect">
            <a:avLst>
              <a:gd name="adj" fmla="val 10549"/>
            </a:avLst>
          </a:prstGeom>
          <a:solidFill>
            <a:srgbClr val="F5B731">
              <a:alpha val="10000"/>
            </a:srgbClr>
          </a:solidFill>
          <a:ln w="6350">
            <a:solidFill>
              <a:srgbClr val="F5B731">
                <a:alpha val="20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149350" y="9205913"/>
            <a:ext cx="178270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F5B7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VISION: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138432" y="9339164"/>
            <a:ext cx="12088070" cy="443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25" dirty="0">
                <a:solidFill>
                  <a:srgbClr val="7A9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launches a new reward card in India, they submit rates to RewardTrust for certification. Reviewers cite the RewardTrust Trust Score. RewardTrust becomes the Trustpilot of Indian payment rewards.</a:t>
            </a:r>
            <a:endParaRPr lang="en-US" sz="1125" dirty="0"/>
          </a:p>
        </p:txBody>
      </p:sp>
      <p:sp>
        <p:nvSpPr>
          <p:cNvPr id="78" name="Text 76"/>
          <p:cNvSpPr/>
          <p:nvPr/>
        </p:nvSpPr>
        <p:spPr>
          <a:xfrm>
            <a:off x="13411200" y="8999538"/>
            <a:ext cx="39243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975" dirty="0">
                <a:solidFill>
                  <a:srgbClr val="364E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targets from PRD v1.0 Section 14. Phase 4 B2B model: API licensing + Trust Score rating service. Consumer Pro tier ₹99/month from Phase 3.</a:t>
            </a:r>
            <a:endParaRPr lang="en-US" sz="975" dirty="0"/>
          </a:p>
        </p:txBody>
      </p:sp>
      <p:sp>
        <p:nvSpPr>
          <p:cNvPr id="79" name="Text 77"/>
          <p:cNvSpPr/>
          <p:nvPr/>
        </p:nvSpPr>
        <p:spPr>
          <a:xfrm>
            <a:off x="16859250" y="9613900"/>
            <a:ext cx="476250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050" dirty="0">
                <a:solidFill>
                  <a:srgbClr val="364E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1466</TotalTime>
  <Words>1483</Words>
  <Application>Microsoft Office PowerPoint</Application>
  <PresentationFormat>Custom</PresentationFormat>
  <Paragraphs>258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4</cp:revision>
  <dcterms:created xsi:type="dcterms:W3CDTF">2026-06-20T13:32:24Z</dcterms:created>
  <dcterms:modified xsi:type="dcterms:W3CDTF">2026-06-21T15:59:26Z</dcterms:modified>
</cp:coreProperties>
</file>